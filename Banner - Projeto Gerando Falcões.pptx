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Espaço Reservado para Conteúdo 7"/>
          <p:cNvSpPr>
            <a:spLocks noGrp="1"/>
          </p:cNvSpPr>
          <p:nvPr>
            <p:ph sz="half" idx="1"/>
          </p:nvPr>
        </p:nvSpPr>
        <p:spPr>
          <a:xfrm>
            <a:off x="382905" y="2061210"/>
            <a:ext cx="5181600" cy="2493645"/>
          </a:xfrm>
        </p:spPr>
        <p:txBody>
          <a:bodyPr>
            <a:normAutofit fontScale="80000"/>
          </a:bodyPr>
          <a:p>
            <a:r>
              <a:rPr lang="pt-BR" altLang="en-US" sz="1800" b="1">
                <a:latin typeface="+mj-lt"/>
                <a:cs typeface="+mj-lt"/>
              </a:rPr>
              <a:t>OBJETIVO</a:t>
            </a:r>
            <a:endParaRPr lang="pt-BR" altLang="en-US" sz="1800">
              <a:latin typeface="+mj-lt"/>
              <a:cs typeface="+mj-lt"/>
            </a:endParaRPr>
          </a:p>
          <a:p>
            <a:r>
              <a:rPr lang="en-US" altLang="pt-BR" sz="1800">
                <a:latin typeface="+mj-lt"/>
                <a:cs typeface="+mj-lt"/>
              </a:rPr>
              <a:t>Nosso objetivo </a:t>
            </a:r>
            <a:r>
              <a:rPr lang="en-US" altLang="en-US" sz="1800">
                <a:latin typeface="+mj-lt"/>
                <a:cs typeface="+mj-lt"/>
              </a:rPr>
              <a:t>é</a:t>
            </a:r>
            <a:r>
              <a:rPr lang="en-US" altLang="pt-BR" sz="1800">
                <a:latin typeface="+mj-lt"/>
                <a:cs typeface="+mj-lt"/>
              </a:rPr>
              <a:t> mostrar como a organiza</a:t>
            </a:r>
            <a:r>
              <a:rPr lang="en-US" altLang="en-US" sz="1800">
                <a:latin typeface="+mj-lt"/>
                <a:cs typeface="+mj-lt"/>
              </a:rPr>
              <a:t>ç</a:t>
            </a:r>
            <a:r>
              <a:rPr lang="en-US" altLang="en-US" sz="1800">
                <a:latin typeface="+mj-lt"/>
                <a:cs typeface="+mj-lt"/>
              </a:rPr>
              <a:t>ã</a:t>
            </a:r>
            <a:r>
              <a:rPr lang="en-US" altLang="pt-BR" sz="1800">
                <a:latin typeface="+mj-lt"/>
                <a:cs typeface="+mj-lt"/>
              </a:rPr>
              <a:t>o desenvolve solu</a:t>
            </a:r>
            <a:r>
              <a:rPr lang="en-US" altLang="en-US" sz="1800">
                <a:latin typeface="+mj-lt"/>
                <a:cs typeface="+mj-lt"/>
              </a:rPr>
              <a:t>çõ</a:t>
            </a:r>
            <a:r>
              <a:rPr lang="en-US" altLang="pt-BR" sz="1800">
                <a:latin typeface="+mj-lt"/>
                <a:cs typeface="+mj-lt"/>
              </a:rPr>
              <a:t>es nas </a:t>
            </a:r>
            <a:r>
              <a:rPr lang="en-US" altLang="en-US" sz="1800">
                <a:latin typeface="+mj-lt"/>
                <a:cs typeface="+mj-lt"/>
              </a:rPr>
              <a:t>á</a:t>
            </a:r>
            <a:r>
              <a:rPr lang="en-US" altLang="pt-BR" sz="1800">
                <a:latin typeface="+mj-lt"/>
                <a:cs typeface="+mj-lt"/>
              </a:rPr>
              <a:t>reas de educa</a:t>
            </a:r>
            <a:r>
              <a:rPr lang="en-US" altLang="en-US" sz="1800">
                <a:latin typeface="+mj-lt"/>
                <a:cs typeface="+mj-lt"/>
              </a:rPr>
              <a:t>ç</a:t>
            </a:r>
            <a:r>
              <a:rPr lang="en-US" altLang="en-US" sz="1800">
                <a:latin typeface="+mj-lt"/>
                <a:cs typeface="+mj-lt"/>
              </a:rPr>
              <a:t>ã</a:t>
            </a:r>
            <a:r>
              <a:rPr lang="en-US" altLang="pt-BR" sz="1800">
                <a:latin typeface="+mj-lt"/>
                <a:cs typeface="+mj-lt"/>
              </a:rPr>
              <a:t>o, gera</a:t>
            </a:r>
            <a:r>
              <a:rPr lang="en-US" altLang="en-US" sz="1800">
                <a:latin typeface="+mj-lt"/>
                <a:cs typeface="+mj-lt"/>
              </a:rPr>
              <a:t>ç</a:t>
            </a:r>
            <a:r>
              <a:rPr lang="en-US" altLang="en-US" sz="1800">
                <a:latin typeface="+mj-lt"/>
                <a:cs typeface="+mj-lt"/>
              </a:rPr>
              <a:t>ã</a:t>
            </a:r>
            <a:r>
              <a:rPr lang="en-US" altLang="pt-BR" sz="1800">
                <a:latin typeface="+mj-lt"/>
                <a:cs typeface="+mj-lt"/>
              </a:rPr>
              <a:t>o de renda, moradia e cidadania, levando oportunidades para pessoas que vivem em favelas e periferias de todo o Brasil, com a meta de superar a pobreza e promover uma vida com mais qualidade e justi</a:t>
            </a:r>
            <a:r>
              <a:rPr lang="en-US" altLang="en-US" sz="1800">
                <a:latin typeface="+mj-lt"/>
                <a:cs typeface="+mj-lt"/>
              </a:rPr>
              <a:t>ç</a:t>
            </a:r>
            <a:r>
              <a:rPr lang="en-US" altLang="pt-BR" sz="1800">
                <a:latin typeface="+mj-lt"/>
                <a:cs typeface="+mj-lt"/>
              </a:rPr>
              <a:t>a social em uma gera</a:t>
            </a:r>
            <a:r>
              <a:rPr lang="en-US" altLang="en-US" sz="1800">
                <a:latin typeface="+mj-lt"/>
                <a:cs typeface="+mj-lt"/>
              </a:rPr>
              <a:t>ç</a:t>
            </a:r>
            <a:r>
              <a:rPr lang="en-US" altLang="en-US" sz="1800">
                <a:latin typeface="+mj-lt"/>
                <a:cs typeface="+mj-lt"/>
              </a:rPr>
              <a:t>ã</a:t>
            </a:r>
            <a:r>
              <a:rPr lang="en-US" altLang="pt-BR" sz="1800">
                <a:latin typeface="+mj-lt"/>
                <a:cs typeface="+mj-lt"/>
              </a:rPr>
              <a:t>o.</a:t>
            </a:r>
            <a:endParaRPr lang="en-US" altLang="pt-BR" sz="1800">
              <a:latin typeface="+mj-lt"/>
              <a:cs typeface="+mj-lt"/>
            </a:endParaRPr>
          </a:p>
        </p:txBody>
      </p:sp>
      <p:sp>
        <p:nvSpPr>
          <p:cNvPr id="9" name="Espaço Reservado para Conteúdo 8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3570605"/>
          </a:xfrm>
        </p:spPr>
        <p:txBody>
          <a:bodyPr/>
          <a:p>
            <a:r>
              <a:rPr lang="pt-BR" altLang="en-US" sz="1400" b="1"/>
              <a:t>COMUNIDADE IMPACTADA</a:t>
            </a:r>
            <a:endParaRPr lang="pt-BR" altLang="en-US" sz="1400" b="1"/>
          </a:p>
          <a:p>
            <a:r>
              <a:rPr lang="pt-BR" altLang="en-US" sz="1400"/>
              <a:t>A ONG pode chegar nas famílias, jovens, crianças e nos adultos que vivem nas periferias, favelas, regiões de vulnerabilidade social baixa.</a:t>
            </a:r>
            <a:endParaRPr lang="pt-BR" altLang="en-US" sz="1400"/>
          </a:p>
          <a:p>
            <a:r>
              <a:rPr lang="en-US" altLang="pt-BR" sz="1400"/>
              <a:t>S</a:t>
            </a:r>
            <a:r>
              <a:rPr lang="en-US" altLang="en-US" sz="1400"/>
              <a:t>ã</a:t>
            </a:r>
            <a:r>
              <a:rPr lang="en-US" altLang="pt-BR" sz="1400"/>
              <a:t>o pessoas que enfrentam dificuldades de acesso a educa</a:t>
            </a:r>
            <a:r>
              <a:rPr lang="en-US" altLang="en-US" sz="1400"/>
              <a:t>ç</a:t>
            </a:r>
            <a:r>
              <a:rPr lang="en-US" altLang="en-US" sz="1400"/>
              <a:t>ã</a:t>
            </a:r>
            <a:r>
              <a:rPr lang="en-US" altLang="pt-BR" sz="1400"/>
              <a:t>o de qualidade, emprego, moradia digna e servi</a:t>
            </a:r>
            <a:r>
              <a:rPr lang="en-US" altLang="en-US" sz="1400"/>
              <a:t>ç</a:t>
            </a:r>
            <a:r>
              <a:rPr lang="en-US" altLang="pt-BR" sz="1400"/>
              <a:t>os b</a:t>
            </a:r>
            <a:r>
              <a:rPr lang="en-US" altLang="en-US" sz="1400"/>
              <a:t>á</a:t>
            </a:r>
            <a:r>
              <a:rPr lang="en-US" altLang="pt-BR" sz="1400"/>
              <a:t>sicos. Por meio dos projetos da ONG, essas comunidades recebem apoio, capacita</a:t>
            </a:r>
            <a:r>
              <a:rPr lang="en-US" altLang="en-US" sz="1400"/>
              <a:t>ç</a:t>
            </a:r>
            <a:r>
              <a:rPr lang="en-US" altLang="en-US" sz="1400"/>
              <a:t>ã</a:t>
            </a:r>
            <a:r>
              <a:rPr lang="en-US" altLang="pt-BR" sz="1400"/>
              <a:t>o e oportunidades para desenvolver seu potencial, mudar a sua realidade e construir uma vida com mais dignidade, cidadania e perspectivas de futuro. O impacto alcan</a:t>
            </a:r>
            <a:r>
              <a:rPr lang="en-US" altLang="en-US" sz="1400"/>
              <a:t>ç</a:t>
            </a:r>
            <a:r>
              <a:rPr lang="en-US" altLang="pt-BR" sz="1400"/>
              <a:t>a n</a:t>
            </a:r>
            <a:r>
              <a:rPr lang="en-US" altLang="en-US" sz="1400"/>
              <a:t>ã</a:t>
            </a:r>
            <a:r>
              <a:rPr lang="en-US" altLang="pt-BR" sz="1400"/>
              <a:t>o s</a:t>
            </a:r>
            <a:r>
              <a:rPr lang="en-US" altLang="en-US" sz="1400"/>
              <a:t>ó</a:t>
            </a:r>
            <a:r>
              <a:rPr lang="en-US" altLang="pt-BR" sz="1400"/>
              <a:t> o indiv</a:t>
            </a:r>
            <a:r>
              <a:rPr lang="en-US" altLang="en-US" sz="1400"/>
              <a:t>í</a:t>
            </a:r>
            <a:r>
              <a:rPr lang="en-US" altLang="pt-BR" sz="1400"/>
              <a:t>duo, mas fortalece toda a comunidade, gerando transforma</a:t>
            </a:r>
            <a:r>
              <a:rPr lang="en-US" altLang="en-US" sz="1400"/>
              <a:t>ç</a:t>
            </a:r>
            <a:r>
              <a:rPr lang="en-US" altLang="en-US" sz="1400"/>
              <a:t>ã</a:t>
            </a:r>
            <a:r>
              <a:rPr lang="en-US" altLang="pt-BR" sz="1400"/>
              <a:t>o coletiva.</a:t>
            </a:r>
            <a:endParaRPr lang="en-US" altLang="pt-BR" sz="1400"/>
          </a:p>
        </p:txBody>
      </p:sp>
      <p:pic>
        <p:nvPicPr>
          <p:cNvPr id="10" name="Imagem 9" descr="Texto, Logotipo&#10;&#10;Descrição gerada automaticament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91840" cy="1892935"/>
          </a:xfrm>
          <a:prstGeom prst="rect">
            <a:avLst/>
          </a:prstGeom>
        </p:spPr>
      </p:pic>
      <p:sp>
        <p:nvSpPr>
          <p:cNvPr id="11" name="Caixa de Texto 10"/>
          <p:cNvSpPr txBox="1"/>
          <p:nvPr/>
        </p:nvSpPr>
        <p:spPr>
          <a:xfrm>
            <a:off x="4446905" y="254635"/>
            <a:ext cx="8060690" cy="1335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2800" b="1">
                <a:latin typeface="Bodoni MT" panose="02070603080606020203" charset="0"/>
                <a:cs typeface="Bodoni MT" panose="02070603080606020203" charset="0"/>
              </a:rPr>
              <a:t>PROJETO DE EXTENSÃO EM CRIAÇÃO DE SISTEMAS</a:t>
            </a:r>
            <a:endParaRPr lang="pt-BR" altLang="en-US" sz="2800">
              <a:latin typeface="Bodoni MT" panose="02070603080606020203" charset="0"/>
              <a:cs typeface="Bodoni MT" panose="02070603080606020203" charset="0"/>
            </a:endParaRPr>
          </a:p>
          <a:p>
            <a:r>
              <a:rPr lang="pt-BR" altLang="en-US" sz="2800">
                <a:latin typeface="Bodoni MT" panose="02070603080606020203" charset="0"/>
                <a:cs typeface="Bodoni MT" panose="02070603080606020203" charset="0"/>
              </a:rPr>
              <a:t>Vinícius Cintra Silva - 425105259</a:t>
            </a:r>
            <a:endParaRPr lang="pt-BR" altLang="en-US" sz="2800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382905" y="1590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b="1">
                <a:latin typeface="Bahnschrift SemiLight SemiCondensed" panose="020B0502040204020203" charset="0"/>
                <a:cs typeface="Bahnschrift SemiLight SemiCondensed" panose="020B0502040204020203" charset="0"/>
              </a:rPr>
              <a:t>PROJETO: ONG GERANDO FALCÕES</a:t>
            </a:r>
            <a:endParaRPr lang="pt-BR" altLang="en-US" b="1">
              <a:latin typeface="Bahnschrift SemiLight SemiCondensed" panose="020B0502040204020203" charset="0"/>
              <a:cs typeface="Bahnschrift SemiLight SemiCondensed" panose="020B0502040204020203" charset="0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611505" y="4657725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sz="1400" b="1">
                <a:latin typeface="+mj-ea"/>
                <a:cs typeface="+mj-ea"/>
              </a:rPr>
              <a:t>PROPOSTAS E MELHORIAS</a:t>
            </a:r>
            <a:endParaRPr lang="pt-BR" altLang="en-US" sz="1400">
              <a:latin typeface="+mj-ea"/>
              <a:cs typeface="+mj-ea"/>
            </a:endParaRPr>
          </a:p>
          <a:p>
            <a:endParaRPr lang="pt-BR" altLang="en-US" sz="1400">
              <a:latin typeface="+mj-ea"/>
              <a:cs typeface="+mj-ea"/>
            </a:endParaRPr>
          </a:p>
          <a:p>
            <a:r>
              <a:rPr lang="pt-BR" altLang="en-US" sz="1400">
                <a:latin typeface="+mj-lt"/>
                <a:cs typeface="+mj-lt"/>
              </a:rPr>
              <a:t>A proposta é fazer com que mais pessoas tenham acesso ao trabalho desenvolvido pela ONG, conheçam de uma forma como ela atua nas áreas de educação e cultura, entendam seu propósito. Com isso, a Gerando Falcões ganhará mais visibilidade, será reconhecida e poderá alcançar mais comunidades.</a:t>
            </a:r>
            <a:endParaRPr lang="pt-BR" altLang="en-US" sz="14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05740" y="0"/>
            <a:ext cx="7659370" cy="6858000"/>
          </a:xfrm>
        </p:spPr>
        <p:txBody>
          <a:bodyPr>
            <a:noAutofit/>
          </a:bodyPr>
          <a:p>
            <a:r>
              <a:rPr lang="pt-BR" sz="1400" b="1">
                <a:latin typeface="+mj-lt"/>
                <a:cs typeface="+mj-lt"/>
              </a:rPr>
              <a:t>RELATÓRIOS FINAIS</a:t>
            </a:r>
            <a:endParaRPr lang="pt-BR" sz="1400">
              <a:latin typeface="+mj-lt"/>
              <a:cs typeface="+mj-lt"/>
            </a:endParaRPr>
          </a:p>
          <a:p>
            <a:r>
              <a:rPr lang="en-US" altLang="pt-BR" sz="1400">
                <a:latin typeface="+mj-lt"/>
                <a:cs typeface="+mj-lt"/>
              </a:rPr>
              <a:t>O presente trabalho teve como objetivo apresentar a atua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 da ONG Gerando Falc</a:t>
            </a:r>
            <a:r>
              <a:rPr lang="" altLang="en-US" sz="1400">
                <a:latin typeface="+mj-lt"/>
                <a:cs typeface="+mj-lt"/>
              </a:rPr>
              <a:t>õ</a:t>
            </a:r>
            <a:r>
              <a:rPr lang="en-US" altLang="pt-BR" sz="1400">
                <a:latin typeface="+mj-lt"/>
                <a:cs typeface="+mj-lt"/>
              </a:rPr>
              <a:t>es, um ecossistema social que atua em todo o Brasil com a miss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 de transformar a pobreza em dignidade. Ao longo do desenvolvimento, buscamos compreender como a organiza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 desenvolve solu</a:t>
            </a:r>
            <a:r>
              <a:rPr lang="" altLang="en-US" sz="1400">
                <a:latin typeface="+mj-lt"/>
                <a:cs typeface="+mj-lt"/>
              </a:rPr>
              <a:t>çõ</a:t>
            </a:r>
            <a:r>
              <a:rPr lang="en-US" altLang="pt-BR" sz="1400">
                <a:latin typeface="+mj-lt"/>
                <a:cs typeface="+mj-lt"/>
              </a:rPr>
              <a:t>es nas </a:t>
            </a:r>
            <a:r>
              <a:rPr lang="en-US" altLang="en-US" sz="1400">
                <a:latin typeface="+mj-lt"/>
                <a:cs typeface="+mj-lt"/>
              </a:rPr>
              <a:t>á</a:t>
            </a:r>
            <a:r>
              <a:rPr lang="en-US" altLang="pt-BR" sz="1400">
                <a:latin typeface="+mj-lt"/>
                <a:cs typeface="+mj-lt"/>
              </a:rPr>
              <a:t>reas de educa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o, cultura, gera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 de renda, moradia e cidadania, levando oportunidades reais para popula</a:t>
            </a:r>
            <a:r>
              <a:rPr lang="" altLang="en-US" sz="1400">
                <a:latin typeface="+mj-lt"/>
                <a:cs typeface="+mj-lt"/>
              </a:rPr>
              <a:t>çõ</a:t>
            </a:r>
            <a:r>
              <a:rPr lang="en-US" altLang="pt-BR" sz="1400">
                <a:latin typeface="+mj-lt"/>
                <a:cs typeface="+mj-lt"/>
              </a:rPr>
              <a:t>es que vivem em favelas, periferias e regi</a:t>
            </a:r>
            <a:r>
              <a:rPr lang="" altLang="en-US" sz="1400">
                <a:latin typeface="+mj-lt"/>
                <a:cs typeface="+mj-lt"/>
              </a:rPr>
              <a:t>õ</a:t>
            </a:r>
            <a:r>
              <a:rPr lang="en-US" altLang="pt-BR" sz="1400">
                <a:latin typeface="+mj-lt"/>
                <a:cs typeface="+mj-lt"/>
              </a:rPr>
              <a:t>es de vulnerabilidade social.</a:t>
            </a:r>
            <a:r>
              <a:rPr lang="pt-BR" altLang="en-US" sz="1400">
                <a:latin typeface="+mj-lt"/>
                <a:cs typeface="+mj-lt"/>
              </a:rPr>
              <a:t> </a:t>
            </a:r>
            <a:endParaRPr lang="pt-BR" altLang="en-US" sz="1400">
              <a:latin typeface="+mj-lt"/>
              <a:cs typeface="+mj-lt"/>
            </a:endParaRPr>
          </a:p>
          <a:p>
            <a:r>
              <a:rPr lang="en-US" altLang="pt-BR" sz="1400">
                <a:latin typeface="+mj-lt"/>
                <a:cs typeface="+mj-lt"/>
              </a:rPr>
              <a:t>Como proposta de melhoria, foi sugerido ampliar a visibilidade da institui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o, facilitando o acesso da comunidade aos seus projetos e mostrando de forma clara como funcionam suas a</a:t>
            </a:r>
            <a:r>
              <a:rPr lang="" altLang="en-US" sz="1400">
                <a:latin typeface="+mj-lt"/>
                <a:cs typeface="+mj-lt"/>
              </a:rPr>
              <a:t>çõ</a:t>
            </a:r>
            <a:r>
              <a:rPr lang="en-US" altLang="pt-BR" sz="1400">
                <a:latin typeface="+mj-lt"/>
                <a:cs typeface="+mj-lt"/>
              </a:rPr>
              <a:t>es voltadas para educa</a:t>
            </a:r>
            <a:r>
              <a:rPr lang="" altLang="en-US" sz="1400">
                <a:latin typeface="+mj-lt"/>
                <a:cs typeface="+mj-lt"/>
              </a:rPr>
              <a:t>ç</a:t>
            </a:r>
            <a:r>
              <a:rPr lang="en-US" altLang="en-US" sz="1400">
                <a:latin typeface="+mj-lt"/>
                <a:cs typeface="+mj-lt"/>
              </a:rPr>
              <a:t>ã</a:t>
            </a:r>
            <a:r>
              <a:rPr lang="en-US" altLang="pt-BR" sz="1400">
                <a:latin typeface="+mj-lt"/>
                <a:cs typeface="+mj-lt"/>
              </a:rPr>
              <a:t>o e cultura. A ideia </a:t>
            </a:r>
            <a:r>
              <a:rPr lang="en-US" altLang="en-US" sz="1400">
                <a:latin typeface="+mj-lt"/>
                <a:cs typeface="+mj-lt"/>
              </a:rPr>
              <a:t>é</a:t>
            </a:r>
            <a:r>
              <a:rPr lang="en-US" altLang="pt-BR" sz="1400">
                <a:latin typeface="+mj-lt"/>
                <a:cs typeface="+mj-lt"/>
              </a:rPr>
              <a:t> que, ao ser mais conhecida, mais pessoas possam ser beneficiadas ou apoiar essa causa, fortalecendo ainda mais seu alcance.</a:t>
            </a:r>
            <a:r>
              <a:rPr lang="pt-BR" altLang="en-US" sz="1400">
                <a:latin typeface="+mj-lt"/>
                <a:cs typeface="+mj-lt"/>
              </a:rPr>
              <a:t> </a:t>
            </a:r>
            <a:r>
              <a:rPr lang="en-US" altLang="pt-BR" sz="1400">
                <a:latin typeface="+mj-lt"/>
                <a:cs typeface="+mj-lt"/>
                <a:sym typeface="+mn-ea"/>
              </a:rPr>
              <a:t> Verificou-se que a comunidade impactada </a:t>
            </a:r>
            <a:r>
              <a:rPr lang="en-US" altLang="en-US" sz="1400">
                <a:latin typeface="+mj-lt"/>
                <a:cs typeface="+mj-lt"/>
                <a:sym typeface="+mn-ea"/>
              </a:rPr>
              <a:t>é</a:t>
            </a:r>
            <a:r>
              <a:rPr lang="en-US" altLang="pt-BR" sz="1400">
                <a:latin typeface="+mj-lt"/>
                <a:cs typeface="+mj-lt"/>
                <a:sym typeface="+mn-ea"/>
              </a:rPr>
              <a:t> formada, principalmente, por crian</a:t>
            </a:r>
            <a:r>
              <a:rPr lang="en-US" altLang="en-US" sz="1400">
                <a:latin typeface="+mj-lt"/>
                <a:cs typeface="+mj-lt"/>
                <a:sym typeface="+mn-ea"/>
              </a:rPr>
              <a:t>ç</a:t>
            </a:r>
            <a:r>
              <a:rPr lang="en-US" altLang="pt-BR" sz="1400">
                <a:latin typeface="+mj-lt"/>
                <a:cs typeface="+mj-lt"/>
                <a:sym typeface="+mn-ea"/>
              </a:rPr>
              <a:t>as, jovens, adultos e fam</a:t>
            </a:r>
            <a:r>
              <a:rPr lang="en-US" altLang="en-US" sz="1400">
                <a:latin typeface="+mj-lt"/>
                <a:cs typeface="+mj-lt"/>
                <a:sym typeface="+mn-ea"/>
              </a:rPr>
              <a:t>í</a:t>
            </a:r>
            <a:r>
              <a:rPr lang="en-US" altLang="pt-BR" sz="1400">
                <a:latin typeface="+mj-lt"/>
                <a:cs typeface="+mj-lt"/>
                <a:sym typeface="+mn-ea"/>
              </a:rPr>
              <a:t>lias que enfrentam dificuldades de acesso a servi</a:t>
            </a:r>
            <a:r>
              <a:rPr lang="en-US" altLang="en-US" sz="1400">
                <a:latin typeface="+mj-lt"/>
                <a:cs typeface="+mj-lt"/>
                <a:sym typeface="+mn-ea"/>
              </a:rPr>
              <a:t>ç</a:t>
            </a:r>
            <a:r>
              <a:rPr lang="en-US" altLang="pt-BR" sz="1400">
                <a:latin typeface="+mj-lt"/>
                <a:cs typeface="+mj-lt"/>
                <a:sym typeface="+mn-ea"/>
              </a:rPr>
              <a:t>os b</a:t>
            </a:r>
            <a:r>
              <a:rPr lang="en-US" altLang="en-US" sz="1400">
                <a:latin typeface="+mj-lt"/>
                <a:cs typeface="+mj-lt"/>
                <a:sym typeface="+mn-ea"/>
              </a:rPr>
              <a:t>á</a:t>
            </a:r>
            <a:r>
              <a:rPr lang="en-US" altLang="pt-BR" sz="1400">
                <a:latin typeface="+mj-lt"/>
                <a:cs typeface="+mj-lt"/>
                <a:sym typeface="+mn-ea"/>
              </a:rPr>
              <a:t>sicos e oportunidades de crescimento. Por meio do trabalho da ONG, essas pessoas recebem apoio para desenvolver seu potencial, mudar sua realidade e construir um futuro melhor.</a:t>
            </a:r>
            <a:endParaRPr lang="en-US" altLang="pt-BR" sz="1400">
              <a:latin typeface="+mj-lt"/>
              <a:cs typeface="+mj-lt"/>
              <a:sym typeface="+mn-ea"/>
            </a:endParaRPr>
          </a:p>
          <a:p>
            <a:r>
              <a:rPr lang="en-US" altLang="pt-BR" sz="1400">
                <a:latin typeface="+mj-lt"/>
                <a:cs typeface="+mj-lt"/>
                <a:sym typeface="+mn-ea"/>
              </a:rPr>
              <a:t>Conclu</a:t>
            </a:r>
            <a:r>
              <a:rPr lang="en-US" altLang="en-US" sz="1400">
                <a:latin typeface="+mj-lt"/>
                <a:cs typeface="+mj-lt"/>
                <a:sym typeface="+mn-ea"/>
              </a:rPr>
              <a:t>í</a:t>
            </a:r>
            <a:r>
              <a:rPr lang="en-US" altLang="pt-BR" sz="1400">
                <a:latin typeface="+mj-lt"/>
                <a:cs typeface="+mj-lt"/>
                <a:sym typeface="+mn-ea"/>
              </a:rPr>
              <a:t>mos, portanto, que a Gerando Falc</a:t>
            </a:r>
            <a:r>
              <a:rPr lang="en-US" altLang="en-US" sz="1400">
                <a:latin typeface="+mj-lt"/>
                <a:cs typeface="+mj-lt"/>
                <a:sym typeface="+mn-ea"/>
              </a:rPr>
              <a:t>õ</a:t>
            </a:r>
            <a:r>
              <a:rPr lang="en-US" altLang="pt-BR" sz="1400">
                <a:latin typeface="+mj-lt"/>
                <a:cs typeface="+mj-lt"/>
                <a:sym typeface="+mn-ea"/>
              </a:rPr>
              <a:t>es exerce um papel fundamental na transforma</a:t>
            </a:r>
            <a:r>
              <a:rPr lang="en-US" altLang="en-US" sz="1400">
                <a:latin typeface="+mj-lt"/>
                <a:cs typeface="+mj-lt"/>
                <a:sym typeface="+mn-ea"/>
              </a:rPr>
              <a:t>çã</a:t>
            </a:r>
            <a:r>
              <a:rPr lang="en-US" altLang="pt-BR" sz="1400">
                <a:latin typeface="+mj-lt"/>
                <a:cs typeface="+mj-lt"/>
                <a:sym typeface="+mn-ea"/>
              </a:rPr>
              <a:t>o social, provando que, com educa</a:t>
            </a:r>
            <a:r>
              <a:rPr lang="en-US" altLang="en-US" sz="1400">
                <a:latin typeface="+mj-lt"/>
                <a:cs typeface="+mj-lt"/>
                <a:sym typeface="+mn-ea"/>
              </a:rPr>
              <a:t>çã</a:t>
            </a:r>
            <a:r>
              <a:rPr lang="en-US" altLang="pt-BR" sz="1400">
                <a:latin typeface="+mj-lt"/>
                <a:cs typeface="+mj-lt"/>
                <a:sym typeface="+mn-ea"/>
              </a:rPr>
              <a:t>o, oportunidade e uni</a:t>
            </a:r>
            <a:r>
              <a:rPr lang="en-US" altLang="en-US" sz="1400">
                <a:latin typeface="+mj-lt"/>
                <a:cs typeface="+mj-lt"/>
                <a:sym typeface="+mn-ea"/>
              </a:rPr>
              <a:t>ã</a:t>
            </a:r>
            <a:r>
              <a:rPr lang="en-US" altLang="pt-BR" sz="1400">
                <a:latin typeface="+mj-lt"/>
                <a:cs typeface="+mj-lt"/>
                <a:sym typeface="+mn-ea"/>
              </a:rPr>
              <a:t>o, </a:t>
            </a:r>
            <a:r>
              <a:rPr lang="en-US" altLang="en-US" sz="1400">
                <a:latin typeface="+mj-lt"/>
                <a:cs typeface="+mj-lt"/>
                <a:sym typeface="+mn-ea"/>
              </a:rPr>
              <a:t>é</a:t>
            </a:r>
            <a:r>
              <a:rPr lang="en-US" altLang="pt-BR" sz="1400">
                <a:latin typeface="+mj-lt"/>
                <a:cs typeface="+mj-lt"/>
                <a:sym typeface="+mn-ea"/>
              </a:rPr>
              <a:t> poss</a:t>
            </a:r>
            <a:r>
              <a:rPr lang="en-US" altLang="en-US" sz="1400">
                <a:latin typeface="+mj-lt"/>
                <a:cs typeface="+mj-lt"/>
                <a:sym typeface="+mn-ea"/>
              </a:rPr>
              <a:t>í</a:t>
            </a:r>
            <a:r>
              <a:rPr lang="en-US" altLang="pt-BR" sz="1400">
                <a:latin typeface="+mj-lt"/>
                <a:cs typeface="+mj-lt"/>
                <a:sym typeface="+mn-ea"/>
              </a:rPr>
              <a:t>vel superar a pobreza e promover uma vida com mais qualidade, justi</a:t>
            </a:r>
            <a:r>
              <a:rPr lang="en-US" altLang="en-US" sz="1400">
                <a:latin typeface="+mj-lt"/>
                <a:cs typeface="+mj-lt"/>
                <a:sym typeface="+mn-ea"/>
              </a:rPr>
              <a:t>ç</a:t>
            </a:r>
            <a:r>
              <a:rPr lang="en-US" altLang="pt-BR" sz="1400">
                <a:latin typeface="+mj-lt"/>
                <a:cs typeface="+mj-lt"/>
                <a:sym typeface="+mn-ea"/>
              </a:rPr>
              <a:t>a e dignidade para todos.</a:t>
            </a:r>
            <a:endParaRPr lang="pt-BR" altLang="en-US" sz="14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2746</Words>
  <Application>WPS Presentation</Application>
  <PresentationFormat>宽屏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Bodoni MT</vt:lpstr>
      <vt:lpstr>Bahnschrift SemiLight SemiCondensed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2025-07-23T00:59:00Z</dcterms:created>
  <dcterms:modified xsi:type="dcterms:W3CDTF">2026-05-28T18:01:39Z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1046-12.2.0.23196</vt:lpwstr>
  </property>
  <property fmtid="{D5CDD505-2E9C-101B-9397-08002B2CF9AE}" pid="3" name="ICV">
    <vt:lpwstr>07CF9F3D4EFC4FA5A47719B0A45E9FF5_11</vt:lpwstr>
  </property>
</Properties>
</file>