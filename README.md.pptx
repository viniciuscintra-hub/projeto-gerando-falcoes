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104380" cy="1023493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黑体" charset="0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黑体" charset="0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黑体" charset="0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黑体" charset="0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黑体" charset="0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黑体" charset="0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黑体" charset="0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黑体" charset="0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黑体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showOutlineIcons="0" horzBarState="maximized">
    <p:restoredLeft sz="12278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pPr fontAlgn="auto"/>
            <a:fld id="{0F9B84EA-7D68-4D60-9CB1-D50884785D1C}" type="datetimeFigureOut">
              <a:rPr lang="en-US" sz="1245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pPr fontAlgn="auto"/>
            <a:fld id="{8D4E0FC9-F1F8-4FAE-9988-3BA365CFD46F}" type="slidenum">
              <a:rPr lang="en-US" sz="1245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6C8D182-E4C8-4120-9249-FC9774456FFA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3076" name="Slide Image Placehoder 3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Note Placeholder 4"/>
          <p:cNvSpPr>
            <a:spLocks noGrp="1"/>
          </p:cNvSpPr>
          <p:nvPr>
            <p:ph type="body" sz="quarter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en-US" altLang="pt-BR"/>
              <a:t>Edit Master text styles</a:t>
            </a:r>
            <a:endParaRPr lang="en-US" altLang="pt-BR"/>
          </a:p>
          <a:p>
            <a:pPr lvl="1"/>
            <a:r>
              <a:rPr lang="en-US" altLang="pt-BR"/>
              <a:t>Second level</a:t>
            </a:r>
            <a:endParaRPr lang="en-US" altLang="pt-BR"/>
          </a:p>
          <a:p>
            <a:pPr lvl="2"/>
            <a:r>
              <a:rPr lang="en-US" altLang="pt-BR"/>
              <a:t>Third level</a:t>
            </a:r>
            <a:endParaRPr lang="en-US" altLang="pt-BR"/>
          </a:p>
          <a:p>
            <a:pPr lvl="3"/>
            <a:r>
              <a:rPr lang="en-US" altLang="pt-BR"/>
              <a:t>Fourth level</a:t>
            </a:r>
            <a:endParaRPr lang="en-US" altLang="pt-BR"/>
          </a:p>
          <a:p>
            <a:pPr lvl="4"/>
            <a:r>
              <a:rPr lang="en-US" altLang="pt-BR"/>
              <a:t>Fifth level</a:t>
            </a:r>
            <a:endParaRPr lang="en-US" alt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85D0DACE-38E0-42D2-9336-2B707D34BC6D}" type="slidenum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pPr fontAlgn="auto"/>
            <a:r>
              <a:rPr lang="en-US" strike="noStrike" noProof="1" dirty="0" smtClean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en-US" strike="noStrike" noProof="1" dirty="0" smtClean="0"/>
              <a:t>Click to edit Master subtitle style</a:t>
            </a:r>
            <a:endParaRPr lang="en-US" strike="noStrike" noProof="1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en-US" strike="noStrike" noProof="1" smtClean="0"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</a:fld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pPr fontAlgn="auto"/>
            <a:r>
              <a:rPr lang="en-US" strike="noStrike" noProof="1" dirty="0" smtClean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 fontAlgn="auto"/>
            <a:r>
              <a:rPr lang="en-US" strike="noStrike" noProof="1" dirty="0" smtClean="0"/>
              <a:t>Click to edit Master text styles</a:t>
            </a:r>
            <a:endParaRPr lang="en-US" strike="noStrike" noProof="1" dirty="0" smtClean="0"/>
          </a:p>
          <a:p>
            <a:pPr lvl="1" fontAlgn="auto"/>
            <a:r>
              <a:rPr lang="en-US" strike="noStrike" noProof="1" dirty="0"/>
              <a:t>Second level </a:t>
            </a:r>
            <a:endParaRPr lang="en-US" strike="noStrike" noProof="1" dirty="0"/>
          </a:p>
          <a:p>
            <a:pPr lvl="2" fontAlgn="auto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auto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auto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en-US" strike="noStrike" noProof="1" smtClean="0"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</a:fld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pPr fontAlgn="auto"/>
            <a:r>
              <a:rPr lang="en-US" strike="noStrike" noProof="1" dirty="0" smtClean="0">
                <a:sym typeface="+mn-ea"/>
              </a:rPr>
              <a:t>Click to edit Master title style</a:t>
            </a:r>
            <a:endParaRPr lang="en-US" strike="noStrike" noProof="1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en-US" strike="noStrike" noProof="1" smtClean="0"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</a:fld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pPr fontAlgn="auto"/>
            <a:r>
              <a:rPr lang="en-US" strike="noStrike" noProof="1" dirty="0" smtClean="0">
                <a:sym typeface="+mn-ea"/>
              </a:rPr>
              <a:t>Click to edit Master title style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 fontAlgn="auto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auto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auto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auto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auto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auto"/>
            <a:r>
              <a:rPr lang="en-US" strike="noStrike" noProof="1" dirty="0">
                <a:sym typeface="+mn-ea"/>
              </a:rPr>
              <a:t>Second level</a:t>
            </a:r>
            <a:endParaRPr lang="en-US" strike="noStrike" noProof="1" dirty="0"/>
          </a:p>
          <a:p>
            <a:pPr lvl="2" fontAlgn="auto"/>
            <a:r>
              <a:rPr lang="en-US" strike="noStrike" noProof="1" dirty="0">
                <a:sym typeface="+mn-ea"/>
              </a:rPr>
              <a:t>Third level</a:t>
            </a:r>
            <a:endParaRPr lang="en-US" strike="noStrike" noProof="1" dirty="0"/>
          </a:p>
          <a:p>
            <a:pPr lvl="3" fontAlgn="auto"/>
            <a:r>
              <a:rPr lang="en-US" strike="noStrike" noProof="1" dirty="0">
                <a:sym typeface="+mn-ea"/>
              </a:rPr>
              <a:t>Fourth level</a:t>
            </a:r>
            <a:endParaRPr lang="en-US" strike="noStrike" noProof="1" dirty="0"/>
          </a:p>
          <a:p>
            <a:pPr lvl="4" fontAlgn="auto"/>
            <a:r>
              <a:rPr lang="en-US" strike="noStrike" noProof="1" dirty="0">
                <a:sym typeface="+mn-ea"/>
              </a:rPr>
              <a:t>Fifth level</a:t>
            </a:r>
            <a:endParaRPr lang="en-US" strike="noStrike" noProof="1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en-US" strike="noStrike" noProof="1" smtClean="0"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</a:fld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pPr fontAlgn="auto"/>
            <a:r>
              <a:rPr lang="en-US" strike="noStrike" noProof="1" dirty="0" smtClean="0">
                <a:sym typeface="+mn-ea"/>
              </a:rPr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auto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auto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auto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auto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en-US" strike="noStrike" noProof="1" dirty="0">
                <a:sym typeface="+mn-ea"/>
              </a:rPr>
              <a:t>Click to edit Master text styles</a:t>
            </a:r>
            <a:endParaRPr lang="en-US" strike="noStrike" noProof="1" dirty="0"/>
          </a:p>
          <a:p>
            <a:pPr lvl="1" fontAlgn="auto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auto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auto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auto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en-US" strike="noStrike" noProof="1" smtClean="0"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</a:fld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fontAlgn="auto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en-US" strike="noStrike" noProof="1" smtClean="0"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</a:fld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en-US" strike="noStrike" noProof="1" smtClean="0"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</a:fld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fontAlgn="auto"/>
            <a:r>
              <a:rPr lang="en-US" strike="noStrike" noProof="1" dirty="0"/>
              <a:t>Click to edit Master title style</a:t>
            </a:r>
            <a:endParaRPr lang="en-US" strike="noStrike" noProof="1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en-US" strike="noStrike" noProof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en-US" strike="noStrike" noProof="1" smtClean="0"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</a:fld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 fontAlgn="auto"/>
            <a:r>
              <a:rPr lang="en-US" strike="noStrike" noProof="1" dirty="0"/>
              <a:t>Click to edit Master text styles</a:t>
            </a:r>
            <a:endParaRPr lang="en-US" strike="noStrike" noProof="1" dirty="0"/>
          </a:p>
          <a:p>
            <a:pPr lvl="1" fontAlgn="auto"/>
            <a:r>
              <a:rPr lang="en-US" strike="noStrike" noProof="1" dirty="0"/>
              <a:t>Second level</a:t>
            </a:r>
            <a:endParaRPr lang="en-US" strike="noStrike" noProof="1" dirty="0"/>
          </a:p>
          <a:p>
            <a:pPr lvl="2" fontAlgn="auto"/>
            <a:r>
              <a:rPr lang="en-US" strike="noStrike" noProof="1" dirty="0"/>
              <a:t>Third level</a:t>
            </a:r>
            <a:endParaRPr lang="en-US" strike="noStrike" noProof="1" dirty="0"/>
          </a:p>
          <a:p>
            <a:pPr lvl="3" fontAlgn="auto"/>
            <a:r>
              <a:rPr lang="en-US" strike="noStrike" noProof="1" dirty="0"/>
              <a:t>Fourth level</a:t>
            </a:r>
            <a:endParaRPr lang="en-US" strike="noStrike" noProof="1" dirty="0"/>
          </a:p>
          <a:p>
            <a:pPr lvl="4" fontAlgn="auto"/>
            <a:r>
              <a:rPr lang="en-US" strike="noStrike" noProof="1" dirty="0"/>
              <a:t>Fifth level</a:t>
            </a:r>
            <a:endParaRPr lang="en-US" strike="noStrike" noProof="1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en-US" strike="noStrike" noProof="1" smtClean="0"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</a:fld>
            <a:endParaRPr 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en-US" strike="noStrike" noProof="1" dirty="0">
                <a:sym typeface="+mn-ea"/>
              </a:rPr>
              <a:t>Click to edit Master text styles</a:t>
            </a:r>
            <a:endParaRPr lang="en-US" strike="noStrike" noProof="1" dirty="0"/>
          </a:p>
          <a:p>
            <a:pPr lvl="1" fontAlgn="auto"/>
            <a:r>
              <a:rPr lang="en-US" strike="noStrike" noProof="1" dirty="0">
                <a:sym typeface="+mn-ea"/>
              </a:rPr>
              <a:t>Second level</a:t>
            </a:r>
            <a:endParaRPr lang="en-US" strike="noStrike" noProof="1" dirty="0"/>
          </a:p>
          <a:p>
            <a:pPr lvl="2" fontAlgn="auto"/>
            <a:r>
              <a:rPr lang="en-US" strike="noStrike" noProof="1" dirty="0">
                <a:sym typeface="+mn-ea"/>
              </a:rPr>
              <a:t>Third level</a:t>
            </a:r>
            <a:endParaRPr lang="en-US" strike="noStrike" noProof="1" dirty="0"/>
          </a:p>
          <a:p>
            <a:pPr lvl="3" fontAlgn="auto"/>
            <a:r>
              <a:rPr lang="en-US" strike="noStrike" noProof="1" dirty="0">
                <a:sym typeface="+mn-ea"/>
              </a:rPr>
              <a:t>Fourth level</a:t>
            </a:r>
            <a:endParaRPr lang="en-US" strike="noStrike" noProof="1" dirty="0"/>
          </a:p>
          <a:p>
            <a:pPr lvl="4" fontAlgn="auto"/>
            <a:r>
              <a:rPr lang="en-US" strike="noStrike" noProof="1" dirty="0">
                <a:sym typeface="+mn-ea"/>
              </a:rPr>
              <a:t>Fifth level</a:t>
            </a:r>
            <a:endParaRPr lang="en-US" strike="noStrike" noProof="1" dirty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en-US" strike="noStrike" noProof="1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en-US" strike="noStrike" noProof="1" smtClean="0"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</a:fld>
            <a:endParaRPr lang="en-US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en-US" altLang="pt-BR" dirty="0"/>
              <a:t>Click to edit Master title style</a:t>
            </a:r>
            <a:endParaRPr lang="en-US" altLang="pt-BR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en-US" altLang="pt-BR" dirty="0"/>
              <a:t>Click to edit Master text styles</a:t>
            </a:r>
            <a:endParaRPr lang="en-US" altLang="pt-BR" dirty="0"/>
          </a:p>
          <a:p>
            <a:pPr lvl="1"/>
            <a:r>
              <a:rPr lang="en-US" altLang="pt-BR" dirty="0"/>
              <a:t>Second level</a:t>
            </a:r>
            <a:endParaRPr lang="en-US" altLang="pt-BR" dirty="0"/>
          </a:p>
          <a:p>
            <a:pPr lvl="2"/>
            <a:r>
              <a:rPr lang="en-US" altLang="pt-BR" dirty="0"/>
              <a:t>Third level</a:t>
            </a:r>
            <a:endParaRPr lang="en-US" altLang="pt-BR" dirty="0"/>
          </a:p>
          <a:p>
            <a:pPr lvl="3"/>
            <a:r>
              <a:rPr lang="en-US" altLang="pt-BR" dirty="0"/>
              <a:t>Fourth level</a:t>
            </a:r>
            <a:endParaRPr lang="en-US" altLang="pt-BR" dirty="0"/>
          </a:p>
          <a:p>
            <a:pPr lvl="4"/>
            <a:r>
              <a:rPr lang="en-US" altLang="pt-BR" dirty="0"/>
              <a:t>Fifth level</a:t>
            </a:r>
            <a:endParaRPr lang="en-US" alt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en-US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fontAlgn="auto"/>
            <a:fld id="{49AE70B2-8BF9-45C0-BB95-33D1B9D3A854}" type="slidenum">
              <a:rPr lang="en-US" strike="noStrike" noProof="1" smtClean="0"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</a:fld>
            <a:endParaRPr 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00150" y="231775"/>
            <a:ext cx="9144000" cy="2187575"/>
          </a:xfrm>
        </p:spPr>
        <p:txBody>
          <a:bodyPr anchor="b">
            <a:normAutofit fontScale="90000"/>
          </a:bodyPr>
          <a:p>
            <a:pPr marL="0" marR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altLang="en-US" sz="6000" b="0" i="0" u="none" strike="noStrike" kern="1200" cap="none" spc="0" normalizeH="0" baseline="0" noProof="1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rPr>
              <a:t>Sistema Web - ONG GERANDO FALCÕES</a:t>
            </a:r>
            <a:endParaRPr kumimoji="0" lang="pt-BR" altLang="en-US" sz="6000" b="0" i="0" u="none" strike="noStrike" kern="1200" cap="none" spc="0" normalizeH="0" baseline="0" noProof="1">
              <a:solidFill>
                <a:schemeClr val="tx1"/>
              </a:solidFill>
              <a:effectLst/>
              <a:latin typeface="Calibri Light" panose="020F0302020204030204" pitchFamily="34" charset="0"/>
              <a:ea typeface="+mj-ea"/>
              <a:cs typeface="+mj-cs"/>
            </a:endParaRPr>
          </a:p>
        </p:txBody>
      </p:sp>
      <p:pic>
        <p:nvPicPr>
          <p:cNvPr id="4098" name="Imagem 3" descr="Logo ONG Gerando Falcõ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9013" y="3116263"/>
            <a:ext cx="5340350" cy="3587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Caixa de Texto 2"/>
          <p:cNvSpPr txBox="1"/>
          <p:nvPr/>
        </p:nvSpPr>
        <p:spPr>
          <a:xfrm>
            <a:off x="0" y="5994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BR" altLang="en-US"/>
              <a:t>Vinícius Cintra Silva - 425105259</a:t>
            </a:r>
            <a:endParaRPr lang="pt-B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Título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2"/>
          </a:xfrm>
        </p:spPr>
        <p:txBody>
          <a:bodyPr vert="horz" lIns="91440" tIns="45720" rIns="91440" bIns="45720" anchor="ctr" anchorCtr="0"/>
          <a:p>
            <a:pPr defTabSz="914400">
              <a:buNone/>
            </a:pPr>
            <a:r>
              <a:rPr lang="pt-BR" altLang="en-US" kern="1200">
                <a:latin typeface="Calibri Light" panose="020F0302020204030204" pitchFamily="34" charset="0"/>
                <a:ea typeface="+mj-ea"/>
                <a:cs typeface="+mj-cs"/>
              </a:rPr>
              <a:t>DESCRIÇÃO</a:t>
            </a:r>
            <a:endParaRPr lang="pt-BR" altLang="en-US" kern="1200">
              <a:latin typeface="Calibri Light" panose="020F0302020204030204" pitchFamily="34" charset="0"/>
              <a:ea typeface="+mj-ea"/>
              <a:cs typeface="+mj-cs"/>
            </a:endParaRPr>
          </a:p>
        </p:txBody>
      </p:sp>
      <p:sp>
        <p:nvSpPr>
          <p:cNvPr id="5122" name="Espaço Reservado para Conteúd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 anchorCtr="0"/>
          <a:p>
            <a:pPr defTabSz="914400">
              <a:lnSpc>
                <a:spcPct val="80000"/>
              </a:lnSpc>
              <a:buSzTx/>
              <a:buFont typeface="Arial" panose="020B0604020202020204" pitchFamily="34" charset="0"/>
              <a:buNone/>
            </a:pPr>
            <a:r>
              <a:rPr lang="pt-BR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Esse sistema web foi desenvolvido para atender a demanda real da ONG Gerando Falcões, sediada em São Paulo. Trata-se de uma página institucional que tem como objetivo apresentar a organização, sua história, projetos desenvolvidos,impactos sociais e formas de colaboração. O site servecomo canal oficial de comunicação com a sociedade, doadores e pessoas que desejam conhecer ou participar das ações da instituição.</a:t>
            </a:r>
            <a:endParaRPr lang="pt-BR" altLang="en-US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  <a:p>
            <a:pPr defTabSz="914400">
              <a:lnSpc>
                <a:spcPct val="80000"/>
              </a:lnSpc>
              <a:buSzTx/>
              <a:buFont typeface="Arial" panose="020B0604020202020204" pitchFamily="34" charset="0"/>
              <a:buNone/>
            </a:pPr>
            <a:endParaRPr lang="pt-BR" altLang="en-US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  <a:p>
            <a:pPr defTabSz="914400">
              <a:lnSpc>
                <a:spcPct val="80000"/>
              </a:lnSpc>
              <a:buSzTx/>
              <a:buFont typeface="Arial" panose="020B0604020202020204" pitchFamily="34" charset="0"/>
              <a:buNone/>
            </a:pPr>
            <a:r>
              <a:rPr lang="pt-BR" altLang="en-US" b="1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Justificativa:</a:t>
            </a:r>
            <a:r>
              <a:rPr lang="pt-BR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 A presença digital é essencial para ONGs, pois amplia o alcance das causas,facilita doações e divulga o trabalho realizado. Esse sistema resolve anecessidade de ter um espaço organizado, acessível e informativo na internet.</a:t>
            </a:r>
            <a:endParaRPr lang="pt-BR" altLang="en-US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ítulo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2"/>
          </a:xfrm>
        </p:spPr>
        <p:txBody>
          <a:bodyPr vert="horz" lIns="91440" tIns="45720" rIns="91440" bIns="45720" anchor="ctr" anchorCtr="0"/>
          <a:p>
            <a:pPr defTabSz="914400">
              <a:buNone/>
            </a:pPr>
            <a:r>
              <a:rPr lang="pt-BR" altLang="en-US" kern="1200">
                <a:latin typeface="Calibri Light" panose="020F0302020204030204" pitchFamily="34" charset="0"/>
                <a:ea typeface="+mj-ea"/>
                <a:cs typeface="+mj-cs"/>
              </a:rPr>
              <a:t>SOBRE A ONG</a:t>
            </a:r>
            <a:endParaRPr lang="pt-BR" altLang="en-US" kern="1200">
              <a:latin typeface="Calibri Light" panose="020F0302020204030204" pitchFamily="34" charset="0"/>
              <a:ea typeface="+mj-ea"/>
              <a:cs typeface="+mj-cs"/>
            </a:endParaRPr>
          </a:p>
        </p:txBody>
      </p:sp>
      <p:sp>
        <p:nvSpPr>
          <p:cNvPr id="6146" name="Espaço Reservado para Conteúd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 anchorCtr="0"/>
          <a:p>
            <a:pPr defTabSz="914400">
              <a:buSzTx/>
              <a:buFont typeface="Arial" panose="020B0604020202020204" pitchFamily="34" charset="0"/>
              <a:buNone/>
            </a:pPr>
            <a:r>
              <a:rPr lang="pt-BR" altLang="en-US" b="1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O QUE É?</a:t>
            </a:r>
            <a:endParaRPr lang="pt-BR" altLang="en-US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  <a:p>
            <a:pPr defTabSz="914400">
              <a:buSzTx/>
              <a:buFont typeface="Arial" panose="020B0604020202020204" pitchFamily="34" charset="0"/>
              <a:buNone/>
            </a:pPr>
            <a:r>
              <a:rPr lang="en-US" altLang="zh-CN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É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 uma organiza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ç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ã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o sem fins lucrativos que atua desde 2001, fundada por jovens na Favela de Heli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ó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polis, zona sul de S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ã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o Paulo. Come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ç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ou com atividades de esporte e cultura e hoje 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é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 um dos maiores movimentos sociais do Brasil, presente em todos os estados.</a:t>
            </a:r>
            <a:endParaRPr lang="en-US" altLang="pt-BR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Título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2"/>
          </a:xfrm>
        </p:spPr>
        <p:txBody>
          <a:bodyPr vert="horz" lIns="91440" tIns="45720" rIns="91440" bIns="45720" anchor="ctr" anchorCtr="0"/>
          <a:p>
            <a:pPr defTabSz="914400">
              <a:buNone/>
            </a:pPr>
            <a:r>
              <a:rPr lang="pt-BR" altLang="en-US" kern="1200">
                <a:latin typeface="Calibri Light" panose="020F0302020204030204" pitchFamily="34" charset="0"/>
                <a:ea typeface="+mj-ea"/>
                <a:cs typeface="+mj-cs"/>
              </a:rPr>
              <a:t>MISSÃO</a:t>
            </a:r>
            <a:endParaRPr lang="pt-BR" altLang="en-US" kern="1200">
              <a:latin typeface="Calibri Light" panose="020F0302020204030204" pitchFamily="34" charset="0"/>
              <a:ea typeface="+mj-ea"/>
              <a:cs typeface="+mj-cs"/>
            </a:endParaRPr>
          </a:p>
        </p:txBody>
      </p:sp>
      <p:sp>
        <p:nvSpPr>
          <p:cNvPr id="7170" name="Espaço Reservado para Conteúd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 anchorCtr="0"/>
          <a:p>
            <a:pPr defTabSz="914400">
              <a:buSzTx/>
              <a:buFont typeface="Arial" panose="020B0604020202020204" pitchFamily="34" charset="0"/>
              <a:buNone/>
            </a:pP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Transformar vidas e desenvolver territ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ó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rios, combatendo a pobreza e garantindo oportunidades iguais para todas as pessoas, independentemente de onde nascem.</a:t>
            </a:r>
            <a:endParaRPr lang="en-US" altLang="pt-BR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</p:txBody>
      </p:sp>
      <p:pic>
        <p:nvPicPr>
          <p:cNvPr id="7171" name="Imagem 3" descr="WhatsApp Image 2026-05-25 at 19.45.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8350" y="3582988"/>
            <a:ext cx="4449763" cy="3040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Imagem 5" descr="WhatsApp Image 2026-05-25 at 19.45.19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38" y="3582988"/>
            <a:ext cx="4006850" cy="2727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Título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2"/>
          </a:xfrm>
        </p:spPr>
        <p:txBody>
          <a:bodyPr vert="horz" lIns="91440" tIns="45720" rIns="91440" bIns="45720" anchor="ctr" anchorCtr="0"/>
          <a:p>
            <a:pPr defTabSz="914400">
              <a:buNone/>
            </a:pPr>
            <a:r>
              <a:rPr lang="pt-BR" altLang="en-US" kern="1200">
                <a:latin typeface="Calibri Light" panose="020F0302020204030204" pitchFamily="34" charset="0"/>
                <a:ea typeface="+mj-ea"/>
                <a:cs typeface="+mj-cs"/>
              </a:rPr>
              <a:t>VISÃO</a:t>
            </a:r>
            <a:endParaRPr lang="pt-BR" altLang="en-US" kern="1200">
              <a:latin typeface="Calibri Light" panose="020F0302020204030204" pitchFamily="34" charset="0"/>
              <a:ea typeface="+mj-ea"/>
              <a:cs typeface="+mj-cs"/>
            </a:endParaRPr>
          </a:p>
        </p:txBody>
      </p:sp>
      <p:sp>
        <p:nvSpPr>
          <p:cNvPr id="8194" name="Espaço Reservado para Conteúd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 anchorCtr="0"/>
          <a:p>
            <a:pPr defTabSz="914400">
              <a:buSzTx/>
              <a:buFont typeface="Arial" panose="020B0604020202020204" pitchFamily="34" charset="0"/>
              <a:buNone/>
            </a:pP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Um Brasil sem favelas, onde todos t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ê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m acesso a educa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ç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ã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o de qualidade, trabalho digno, moradia e cidadania</a:t>
            </a:r>
            <a:r>
              <a:rPr lang="pt-BR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.</a:t>
            </a:r>
            <a:endParaRPr lang="pt-BR" altLang="en-US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  <a:p>
            <a:pPr defTabSz="914400">
              <a:buSzTx/>
              <a:buFont typeface="Arial" panose="020B0604020202020204" pitchFamily="34" charset="0"/>
              <a:buNone/>
            </a:pPr>
            <a:endParaRPr lang="pt-BR" altLang="en-US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  <a:p>
            <a:pPr defTabSz="914400">
              <a:buSzTx/>
              <a:buFont typeface="Arial" panose="020B0604020202020204" pitchFamily="34" charset="0"/>
              <a:buNone/>
            </a:pPr>
            <a:endParaRPr lang="pt-BR" altLang="en-US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  <a:p>
            <a:pPr defTabSz="914400">
              <a:buSzTx/>
              <a:buFont typeface="Arial" panose="020B0604020202020204" pitchFamily="34" charset="0"/>
              <a:buNone/>
            </a:pPr>
            <a:r>
              <a:rPr lang="pt-BR" altLang="en-US" sz="4400" b="1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VALORES</a:t>
            </a:r>
            <a:endParaRPr lang="pt-BR" altLang="en-US" sz="4400" b="1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  <a:p>
            <a:pPr defTabSz="914400">
              <a:buSzTx/>
              <a:buFont typeface="Arial" panose="020B0604020202020204" pitchFamily="34" charset="0"/>
              <a:buNone/>
            </a:pP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Protagonismo, solidariedade, coragem, inova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ç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ã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o, respeito e transpar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ê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ncia.</a:t>
            </a:r>
            <a:endParaRPr lang="en-US" altLang="pt-BR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Título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2"/>
          </a:xfrm>
        </p:spPr>
        <p:txBody>
          <a:bodyPr vert="horz" lIns="91440" tIns="45720" rIns="91440" bIns="45720" anchor="ctr" anchorCtr="0"/>
          <a:p>
            <a:pPr defTabSz="914400">
              <a:buNone/>
            </a:pPr>
            <a:r>
              <a:rPr lang="pt-BR" altLang="en-US" sz="3600" kern="1200">
                <a:latin typeface="Calibri Light" panose="020F0302020204030204" pitchFamily="34" charset="0"/>
                <a:ea typeface="+mj-ea"/>
                <a:cs typeface="+mj-cs"/>
              </a:rPr>
              <a:t>PRINCIPAIS ÁREAS DE ATUAÇÃO</a:t>
            </a:r>
            <a:endParaRPr lang="pt-BR" altLang="en-US" sz="3600" kern="1200">
              <a:latin typeface="Calibri Light" panose="020F0302020204030204" pitchFamily="34" charset="0"/>
              <a:ea typeface="+mj-ea"/>
              <a:cs typeface="+mj-cs"/>
            </a:endParaRPr>
          </a:p>
        </p:txBody>
      </p:sp>
      <p:sp>
        <p:nvSpPr>
          <p:cNvPr id="9218" name="Caixa de Texto 3"/>
          <p:cNvSpPr txBox="1"/>
          <p:nvPr/>
        </p:nvSpPr>
        <p:spPr>
          <a:xfrm>
            <a:off x="647700" y="1420813"/>
            <a:ext cx="5448300" cy="5216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r>
              <a:rPr lang="en-US" altLang="pt-BR" sz="1600">
                <a:latin typeface="Calibri" panose="020F0502020204030204" charset="0"/>
                <a:ea typeface="+mn-ea"/>
              </a:rPr>
              <a:t>1</a:t>
            </a:r>
            <a:r>
              <a:rPr lang="en-US" altLang="zh-CN" sz="1600">
                <a:latin typeface="Calibri" panose="020F0502020204030204" charset="0"/>
                <a:ea typeface="+mn-ea"/>
              </a:rPr>
              <a:t>️</a:t>
            </a:r>
            <a:r>
              <a:rPr lang="en-US" altLang="en-US" sz="1600">
                <a:latin typeface="Calibri" panose="020F0502020204030204" charset="0"/>
                <a:ea typeface="+mn-ea"/>
              </a:rPr>
              <a:t>⃣</a:t>
            </a:r>
            <a:r>
              <a:rPr lang="en-US" altLang="pt-BR" sz="1600">
                <a:latin typeface="Calibri" panose="020F0502020204030204" charset="0"/>
                <a:ea typeface="+mn-ea"/>
              </a:rPr>
              <a:t> EDUCA</a:t>
            </a:r>
            <a:r>
              <a:rPr lang="en-US" altLang="zh-CN" sz="1600">
                <a:latin typeface="Calibri" panose="020F0502020204030204" charset="0"/>
                <a:ea typeface="+mn-ea"/>
              </a:rPr>
              <a:t>ÇÃ</a:t>
            </a:r>
            <a:r>
              <a:rPr lang="en-US" altLang="pt-BR" sz="1600">
                <a:latin typeface="Calibri" panose="020F0502020204030204" charset="0"/>
                <a:ea typeface="+mn-ea"/>
              </a:rPr>
              <a:t>O </a:t>
            </a:r>
            <a:r>
              <a:rPr lang="zh-CN" altLang="en-US" sz="1600">
                <a:latin typeface="Calibri" panose="020F0502020204030204" charset="0"/>
                <a:ea typeface="+mn-ea"/>
              </a:rPr>
              <a:t>📚</a:t>
            </a:r>
            <a:endParaRPr lang="zh-CN" altLang="en-US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- Escolas de desenvolvimento e refor</a:t>
            </a:r>
            <a:r>
              <a:rPr lang="en-US" altLang="zh-CN" sz="1600">
                <a:latin typeface="Calibri" panose="020F0502020204030204" charset="0"/>
                <a:ea typeface="+mn-ea"/>
              </a:rPr>
              <a:t>ç</a:t>
            </a:r>
            <a:r>
              <a:rPr lang="en-US" altLang="pt-BR" sz="1600">
                <a:latin typeface="Calibri" panose="020F0502020204030204" charset="0"/>
                <a:ea typeface="+mn-ea"/>
              </a:rPr>
              <a:t>o escolar</a:t>
            </a:r>
            <a:endParaRPr lang="en-US" altLang="pt-BR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- Cursos profissionalizantes</a:t>
            </a:r>
            <a:endParaRPr lang="en-US" altLang="pt-BR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- Falcons University: forma</a:t>
            </a:r>
            <a:r>
              <a:rPr lang="en-US" altLang="zh-CN" sz="1600">
                <a:latin typeface="Calibri" panose="020F0502020204030204" charset="0"/>
                <a:ea typeface="+mn-ea"/>
              </a:rPr>
              <a:t>ç</a:t>
            </a:r>
            <a:r>
              <a:rPr lang="en-US" altLang="en-US" sz="1600">
                <a:latin typeface="Calibri" panose="020F0502020204030204" charset="0"/>
                <a:ea typeface="+mn-ea"/>
              </a:rPr>
              <a:t>ã</a:t>
            </a:r>
            <a:r>
              <a:rPr lang="en-US" altLang="pt-BR" sz="1600">
                <a:latin typeface="Calibri" panose="020F0502020204030204" charset="0"/>
                <a:ea typeface="+mn-ea"/>
              </a:rPr>
              <a:t>o de l</a:t>
            </a:r>
            <a:r>
              <a:rPr lang="en-US" altLang="en-US" sz="1600">
                <a:latin typeface="Calibri" panose="020F0502020204030204" charset="0"/>
                <a:ea typeface="+mn-ea"/>
              </a:rPr>
              <a:t>í</a:t>
            </a:r>
            <a:r>
              <a:rPr lang="en-US" altLang="pt-BR" sz="1600">
                <a:latin typeface="Calibri" panose="020F0502020204030204" charset="0"/>
                <a:ea typeface="+mn-ea"/>
              </a:rPr>
              <a:t>deres comunit</a:t>
            </a:r>
            <a:r>
              <a:rPr lang="en-US" altLang="en-US" sz="1600">
                <a:latin typeface="Calibri" panose="020F0502020204030204" charset="0"/>
                <a:ea typeface="+mn-ea"/>
              </a:rPr>
              <a:t>á</a:t>
            </a:r>
            <a:r>
              <a:rPr lang="en-US" altLang="pt-BR" sz="1600">
                <a:latin typeface="Calibri" panose="020F0502020204030204" charset="0"/>
                <a:ea typeface="+mn-ea"/>
              </a:rPr>
              <a:t>rios</a:t>
            </a:r>
            <a:endParaRPr lang="en-US" altLang="pt-BR" sz="1600">
              <a:latin typeface="Calibri" panose="020F0502020204030204" charset="0"/>
              <a:ea typeface="+mn-ea"/>
            </a:endParaRPr>
          </a:p>
          <a:p>
            <a:endParaRPr lang="en-US" altLang="pt-BR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2</a:t>
            </a:r>
            <a:r>
              <a:rPr lang="en-US" altLang="zh-CN" sz="1600">
                <a:latin typeface="Calibri" panose="020F0502020204030204" charset="0"/>
                <a:ea typeface="+mn-ea"/>
              </a:rPr>
              <a:t>️</a:t>
            </a:r>
            <a:r>
              <a:rPr lang="en-US" altLang="en-US" sz="1600">
                <a:latin typeface="Calibri" panose="020F0502020204030204" charset="0"/>
                <a:ea typeface="+mn-ea"/>
              </a:rPr>
              <a:t>⃣</a:t>
            </a:r>
            <a:r>
              <a:rPr lang="en-US" altLang="pt-BR" sz="1600">
                <a:latin typeface="Calibri" panose="020F0502020204030204" charset="0"/>
                <a:ea typeface="+mn-ea"/>
              </a:rPr>
              <a:t> GERA</a:t>
            </a:r>
            <a:r>
              <a:rPr lang="en-US" altLang="zh-CN" sz="1600">
                <a:latin typeface="Calibri" panose="020F0502020204030204" charset="0"/>
                <a:ea typeface="+mn-ea"/>
              </a:rPr>
              <a:t>ÇÃ</a:t>
            </a:r>
            <a:r>
              <a:rPr lang="en-US" altLang="pt-BR" sz="1600">
                <a:latin typeface="Calibri" panose="020F0502020204030204" charset="0"/>
                <a:ea typeface="+mn-ea"/>
              </a:rPr>
              <a:t>O DE RENDA </a:t>
            </a:r>
            <a:r>
              <a:rPr lang="zh-CN" altLang="en-US" sz="1600">
                <a:latin typeface="Calibri" panose="020F0502020204030204" charset="0"/>
                <a:ea typeface="+mn-ea"/>
              </a:rPr>
              <a:t>💼</a:t>
            </a:r>
            <a:endParaRPr lang="zh-CN" altLang="en-US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- Capacita</a:t>
            </a:r>
            <a:r>
              <a:rPr lang="en-US" altLang="zh-CN" sz="1600">
                <a:latin typeface="Calibri" panose="020F0502020204030204" charset="0"/>
                <a:ea typeface="+mn-ea"/>
              </a:rPr>
              <a:t>çõ</a:t>
            </a:r>
            <a:r>
              <a:rPr lang="en-US" altLang="pt-BR" sz="1600">
                <a:latin typeface="Calibri" panose="020F0502020204030204" charset="0"/>
                <a:ea typeface="+mn-ea"/>
              </a:rPr>
              <a:t>es e oficinas</a:t>
            </a:r>
            <a:endParaRPr lang="en-US" altLang="pt-BR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- Apoio a pequenos neg</a:t>
            </a:r>
            <a:r>
              <a:rPr lang="en-US" altLang="en-US" sz="1600">
                <a:latin typeface="Calibri" panose="020F0502020204030204" charset="0"/>
                <a:ea typeface="+mn-ea"/>
              </a:rPr>
              <a:t>ó</a:t>
            </a:r>
            <a:r>
              <a:rPr lang="en-US" altLang="pt-BR" sz="1600">
                <a:latin typeface="Calibri" panose="020F0502020204030204" charset="0"/>
                <a:ea typeface="+mn-ea"/>
              </a:rPr>
              <a:t>cios locais</a:t>
            </a:r>
            <a:endParaRPr lang="en-US" altLang="pt-BR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- Gera</a:t>
            </a:r>
            <a:r>
              <a:rPr lang="en-US" altLang="zh-CN" sz="1600">
                <a:latin typeface="Calibri" panose="020F0502020204030204" charset="0"/>
                <a:ea typeface="+mn-ea"/>
              </a:rPr>
              <a:t>ç</a:t>
            </a:r>
            <a:r>
              <a:rPr lang="en-US" altLang="en-US" sz="1600">
                <a:latin typeface="Calibri" panose="020F0502020204030204" charset="0"/>
                <a:ea typeface="+mn-ea"/>
              </a:rPr>
              <a:t>ã</a:t>
            </a:r>
            <a:r>
              <a:rPr lang="en-US" altLang="pt-BR" sz="1600">
                <a:latin typeface="Calibri" panose="020F0502020204030204" charset="0"/>
                <a:ea typeface="+mn-ea"/>
              </a:rPr>
              <a:t>o de trabalho dentro da pr</a:t>
            </a:r>
            <a:r>
              <a:rPr lang="en-US" altLang="en-US" sz="1600">
                <a:latin typeface="Calibri" panose="020F0502020204030204" charset="0"/>
                <a:ea typeface="+mn-ea"/>
              </a:rPr>
              <a:t>ó</a:t>
            </a:r>
            <a:r>
              <a:rPr lang="en-US" altLang="pt-BR" sz="1600">
                <a:latin typeface="Calibri" panose="020F0502020204030204" charset="0"/>
                <a:ea typeface="+mn-ea"/>
              </a:rPr>
              <a:t>pria comunidade</a:t>
            </a:r>
            <a:endParaRPr lang="en-US" altLang="pt-BR" sz="1600">
              <a:latin typeface="Calibri" panose="020F0502020204030204" charset="0"/>
              <a:ea typeface="+mn-ea"/>
            </a:endParaRPr>
          </a:p>
          <a:p>
            <a:endParaRPr lang="en-US" altLang="pt-BR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3</a:t>
            </a:r>
            <a:r>
              <a:rPr lang="en-US" altLang="zh-CN" sz="1600">
                <a:latin typeface="Calibri" panose="020F0502020204030204" charset="0"/>
                <a:ea typeface="+mn-ea"/>
              </a:rPr>
              <a:t>️</a:t>
            </a:r>
            <a:r>
              <a:rPr lang="en-US" altLang="en-US" sz="1600">
                <a:latin typeface="Calibri" panose="020F0502020204030204" charset="0"/>
                <a:ea typeface="+mn-ea"/>
              </a:rPr>
              <a:t>⃣</a:t>
            </a:r>
            <a:r>
              <a:rPr lang="en-US" altLang="pt-BR" sz="1600">
                <a:latin typeface="Calibri" panose="020F0502020204030204" charset="0"/>
                <a:ea typeface="+mn-ea"/>
              </a:rPr>
              <a:t> HABITA</a:t>
            </a:r>
            <a:r>
              <a:rPr lang="en-US" altLang="zh-CN" sz="1600">
                <a:latin typeface="Calibri" panose="020F0502020204030204" charset="0"/>
                <a:ea typeface="+mn-ea"/>
              </a:rPr>
              <a:t>ÇÃ</a:t>
            </a:r>
            <a:r>
              <a:rPr lang="en-US" altLang="pt-BR" sz="1600">
                <a:latin typeface="Calibri" panose="020F0502020204030204" charset="0"/>
                <a:ea typeface="+mn-ea"/>
              </a:rPr>
              <a:t>O </a:t>
            </a:r>
            <a:r>
              <a:rPr lang="zh-CN" altLang="en-US" sz="1600">
                <a:latin typeface="Calibri" panose="020F0502020204030204" charset="0"/>
                <a:ea typeface="+mn-ea"/>
              </a:rPr>
              <a:t>🏠</a:t>
            </a:r>
            <a:endParaRPr lang="zh-CN" altLang="en-US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- Melhorias e constru</a:t>
            </a:r>
            <a:r>
              <a:rPr lang="en-US" altLang="zh-CN" sz="1600">
                <a:latin typeface="Calibri" panose="020F0502020204030204" charset="0"/>
                <a:ea typeface="+mn-ea"/>
              </a:rPr>
              <a:t>ç</a:t>
            </a:r>
            <a:r>
              <a:rPr lang="en-US" altLang="en-US" sz="1600">
                <a:latin typeface="Calibri" panose="020F0502020204030204" charset="0"/>
                <a:ea typeface="+mn-ea"/>
              </a:rPr>
              <a:t>ã</a:t>
            </a:r>
            <a:r>
              <a:rPr lang="en-US" altLang="pt-BR" sz="1600">
                <a:latin typeface="Calibri" panose="020F0502020204030204" charset="0"/>
                <a:ea typeface="+mn-ea"/>
              </a:rPr>
              <a:t>o de moradias dignas</a:t>
            </a:r>
            <a:endParaRPr lang="en-US" altLang="pt-BR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- Urbaniza</a:t>
            </a:r>
            <a:r>
              <a:rPr lang="en-US" altLang="zh-CN" sz="1600">
                <a:latin typeface="Calibri" panose="020F0502020204030204" charset="0"/>
                <a:ea typeface="+mn-ea"/>
              </a:rPr>
              <a:t>ç</a:t>
            </a:r>
            <a:r>
              <a:rPr lang="en-US" altLang="en-US" sz="1600">
                <a:latin typeface="Calibri" panose="020F0502020204030204" charset="0"/>
                <a:ea typeface="+mn-ea"/>
              </a:rPr>
              <a:t>ã</a:t>
            </a:r>
            <a:r>
              <a:rPr lang="en-US" altLang="pt-BR" sz="1600">
                <a:latin typeface="Calibri" panose="020F0502020204030204" charset="0"/>
                <a:ea typeface="+mn-ea"/>
              </a:rPr>
              <a:t>o de favelas</a:t>
            </a:r>
            <a:endParaRPr lang="en-US" altLang="pt-BR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- Mais de 150 mil unidades entregues</a:t>
            </a:r>
            <a:endParaRPr lang="en-US" altLang="pt-BR" sz="1600">
              <a:latin typeface="Calibri" panose="020F0502020204030204" charset="0"/>
              <a:ea typeface="+mn-ea"/>
            </a:endParaRPr>
          </a:p>
          <a:p>
            <a:endParaRPr lang="en-US" altLang="pt-BR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4</a:t>
            </a:r>
            <a:r>
              <a:rPr lang="en-US" altLang="zh-CN" sz="1600">
                <a:latin typeface="Calibri" panose="020F0502020204030204" charset="0"/>
                <a:ea typeface="+mn-ea"/>
              </a:rPr>
              <a:t>️</a:t>
            </a:r>
            <a:r>
              <a:rPr lang="en-US" altLang="en-US" sz="1600">
                <a:latin typeface="Calibri" panose="020F0502020204030204" charset="0"/>
                <a:ea typeface="+mn-ea"/>
              </a:rPr>
              <a:t>⃣</a:t>
            </a:r>
            <a:r>
              <a:rPr lang="en-US" altLang="pt-BR" sz="1600">
                <a:latin typeface="Calibri" panose="020F0502020204030204" charset="0"/>
                <a:ea typeface="+mn-ea"/>
              </a:rPr>
              <a:t> CIDADANIA E CULTURA </a:t>
            </a:r>
            <a:r>
              <a:rPr lang="zh-CN" altLang="en-US" sz="1600">
                <a:latin typeface="Calibri" panose="020F0502020204030204" charset="0"/>
                <a:ea typeface="+mn-ea"/>
              </a:rPr>
              <a:t>⚽🎨</a:t>
            </a:r>
            <a:endParaRPr lang="zh-CN" altLang="en-US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- Esporte, arte, m</a:t>
            </a:r>
            <a:r>
              <a:rPr lang="en-US" altLang="en-US" sz="1600">
                <a:latin typeface="Calibri" panose="020F0502020204030204" charset="0"/>
                <a:ea typeface="+mn-ea"/>
              </a:rPr>
              <a:t>ú</a:t>
            </a:r>
            <a:r>
              <a:rPr lang="en-US" altLang="pt-BR" sz="1600">
                <a:latin typeface="Calibri" panose="020F0502020204030204" charset="0"/>
                <a:ea typeface="+mn-ea"/>
              </a:rPr>
              <a:t>sica e teatro</a:t>
            </a:r>
            <a:endParaRPr lang="en-US" altLang="pt-BR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- Distribui</a:t>
            </a:r>
            <a:r>
              <a:rPr lang="en-US" altLang="zh-CN" sz="1600">
                <a:latin typeface="Calibri" panose="020F0502020204030204" charset="0"/>
                <a:ea typeface="+mn-ea"/>
              </a:rPr>
              <a:t>ç</a:t>
            </a:r>
            <a:r>
              <a:rPr lang="en-US" altLang="en-US" sz="1600">
                <a:latin typeface="Calibri" panose="020F0502020204030204" charset="0"/>
                <a:ea typeface="+mn-ea"/>
              </a:rPr>
              <a:t>ã</a:t>
            </a:r>
            <a:r>
              <a:rPr lang="en-US" altLang="pt-BR" sz="1600">
                <a:latin typeface="Calibri" panose="020F0502020204030204" charset="0"/>
                <a:ea typeface="+mn-ea"/>
              </a:rPr>
              <a:t>o de alimentos</a:t>
            </a:r>
            <a:endParaRPr lang="en-US" altLang="pt-BR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- Sa</a:t>
            </a:r>
            <a:r>
              <a:rPr lang="en-US" altLang="en-US" sz="1600">
                <a:latin typeface="Calibri" panose="020F0502020204030204" charset="0"/>
                <a:ea typeface="+mn-ea"/>
              </a:rPr>
              <a:t>ú</a:t>
            </a:r>
            <a:r>
              <a:rPr lang="en-US" altLang="pt-BR" sz="1600">
                <a:latin typeface="Calibri" panose="020F0502020204030204" charset="0"/>
                <a:ea typeface="+mn-ea"/>
              </a:rPr>
              <a:t>de e orienta</a:t>
            </a:r>
            <a:r>
              <a:rPr lang="en-US" altLang="zh-CN" sz="1600">
                <a:latin typeface="Calibri" panose="020F0502020204030204" charset="0"/>
                <a:ea typeface="+mn-ea"/>
              </a:rPr>
              <a:t>ç</a:t>
            </a:r>
            <a:r>
              <a:rPr lang="en-US" altLang="en-US" sz="1600">
                <a:latin typeface="Calibri" panose="020F0502020204030204" charset="0"/>
                <a:ea typeface="+mn-ea"/>
              </a:rPr>
              <a:t>ã</a:t>
            </a:r>
            <a:r>
              <a:rPr lang="en-US" altLang="pt-BR" sz="1600">
                <a:latin typeface="Calibri" panose="020F0502020204030204" charset="0"/>
                <a:ea typeface="+mn-ea"/>
              </a:rPr>
              <a:t>o jur</a:t>
            </a:r>
            <a:r>
              <a:rPr lang="en-US" altLang="en-US" sz="1600">
                <a:latin typeface="Calibri" panose="020F0502020204030204" charset="0"/>
                <a:ea typeface="+mn-ea"/>
              </a:rPr>
              <a:t>í</a:t>
            </a:r>
            <a:r>
              <a:rPr lang="en-US" altLang="pt-BR" sz="1600">
                <a:latin typeface="Calibri" panose="020F0502020204030204" charset="0"/>
                <a:ea typeface="+mn-ea"/>
              </a:rPr>
              <a:t>dica</a:t>
            </a:r>
            <a:endParaRPr lang="en-US" altLang="pt-BR" sz="1600">
              <a:latin typeface="Calibri" panose="020F0502020204030204" charset="0"/>
              <a:ea typeface="+mn-ea"/>
            </a:endParaRPr>
          </a:p>
          <a:p>
            <a:r>
              <a:rPr lang="en-US" altLang="pt-BR" sz="1600">
                <a:latin typeface="Calibri" panose="020F0502020204030204" charset="0"/>
                <a:ea typeface="+mn-ea"/>
              </a:rPr>
              <a:t>- Defesa de direitos humanos</a:t>
            </a:r>
            <a:endParaRPr lang="en-US" altLang="pt-BR" sz="1600">
              <a:latin typeface="Calibri" panose="020F0502020204030204" charset="0"/>
              <a:ea typeface="+mn-ea"/>
            </a:endParaRPr>
          </a:p>
        </p:txBody>
      </p:sp>
      <p:pic>
        <p:nvPicPr>
          <p:cNvPr id="9219" name="Imagem 4" descr="WhatsApp Image 2026-05-25 at 19.45.19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0" y="768350"/>
            <a:ext cx="4364038" cy="29860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0" name="Imagem 5" descr="WhatsApp Image 2026-05-25 at 19.45.19 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88" y="4135438"/>
            <a:ext cx="3638550" cy="2501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Título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2"/>
          </a:xfrm>
        </p:spPr>
        <p:txBody>
          <a:bodyPr vert="horz" lIns="91440" tIns="45720" rIns="91440" bIns="45720" anchor="ctr" anchorCtr="0"/>
          <a:p>
            <a:pPr defTabSz="914400">
              <a:buNone/>
            </a:pPr>
            <a:r>
              <a:rPr lang="pt-BR" altLang="en-US" kern="1200">
                <a:latin typeface="Calibri Light" panose="020F0302020204030204" pitchFamily="34" charset="0"/>
                <a:ea typeface="+mj-ea"/>
                <a:cs typeface="+mj-cs"/>
              </a:rPr>
              <a:t>IMPACTO E RESULTADOS</a:t>
            </a:r>
            <a:endParaRPr lang="pt-BR" altLang="en-US" kern="1200">
              <a:latin typeface="Calibri Light" panose="020F0302020204030204" pitchFamily="34" charset="0"/>
              <a:ea typeface="+mj-ea"/>
              <a:cs typeface="+mj-cs"/>
            </a:endParaRPr>
          </a:p>
        </p:txBody>
      </p:sp>
      <p:sp>
        <p:nvSpPr>
          <p:cNvPr id="10242" name="Espaço Reservado para Conteúd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 anchorCtr="0"/>
          <a:p>
            <a:pPr defTabSz="914400">
              <a:buSzTx/>
              <a:buFont typeface="Arial" panose="020B0604020202020204" pitchFamily="34" charset="0"/>
              <a:buNone/>
            </a:pP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✅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 Mais de 2 milh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õ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es de pessoas beneficiadas</a:t>
            </a:r>
            <a:endParaRPr lang="en-US" altLang="pt-BR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  <a:p>
            <a:pPr defTabSz="914400">
              <a:buSzTx/>
              <a:buFont typeface="Arial" panose="020B0604020202020204" pitchFamily="34" charset="0"/>
              <a:buNone/>
            </a:pP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✅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 Atua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ç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ã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o em mais de 5 mil favelas brasileiras</a:t>
            </a:r>
            <a:endParaRPr lang="en-US" altLang="pt-BR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  <a:p>
            <a:pPr defTabSz="914400">
              <a:buSzTx/>
              <a:buFont typeface="Arial" panose="020B0604020202020204" pitchFamily="34" charset="0"/>
              <a:buNone/>
            </a:pP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✅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 Mais de 2 mil l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í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deres formados por ano</a:t>
            </a:r>
            <a:endParaRPr lang="en-US" altLang="pt-BR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  <a:p>
            <a:pPr defTabSz="914400">
              <a:buSzTx/>
              <a:buFont typeface="Arial" panose="020B0604020202020204" pitchFamily="34" charset="0"/>
              <a:buNone/>
            </a:pP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✅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 Reconhecida pela ONU e pr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ê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mios internacionais</a:t>
            </a:r>
            <a:endParaRPr lang="en-US" altLang="pt-BR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  <a:p>
            <a:pPr defTabSz="914400">
              <a:buSzTx/>
              <a:buFont typeface="Arial" panose="020B0604020202020204" pitchFamily="34" charset="0"/>
              <a:buNone/>
            </a:pP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✅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 Refer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ê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ncia mundial em desenvolvimento territorial</a:t>
            </a:r>
            <a:endParaRPr lang="en-US" altLang="pt-BR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Título 1"/>
          <p:cNvSpPr>
            <a:spLocks noGrp="1"/>
          </p:cNvSpPr>
          <p:nvPr>
            <p:ph type="title"/>
          </p:nvPr>
        </p:nvSpPr>
        <p:spPr>
          <a:xfrm>
            <a:off x="647700" y="258763"/>
            <a:ext cx="10515600" cy="1325562"/>
          </a:xfrm>
        </p:spPr>
        <p:txBody>
          <a:bodyPr vert="horz" lIns="91440" tIns="45720" rIns="91440" bIns="45720" anchor="ctr" anchorCtr="0"/>
          <a:p>
            <a:pPr defTabSz="914400">
              <a:buNone/>
            </a:pPr>
            <a:r>
              <a:rPr lang="pt-BR" altLang="en-US" kern="1200">
                <a:latin typeface="Calibri Light" panose="020F0302020204030204" pitchFamily="34" charset="0"/>
                <a:ea typeface="+mj-ea"/>
                <a:cs typeface="+mj-cs"/>
              </a:rPr>
              <a:t>SIGNIFICADO DO NOME</a:t>
            </a:r>
            <a:endParaRPr lang="pt-BR" altLang="en-US" kern="1200">
              <a:latin typeface="Calibri Light" panose="020F0302020204030204" pitchFamily="34" charset="0"/>
              <a:ea typeface="+mj-ea"/>
              <a:cs typeface="+mj-cs"/>
            </a:endParaRPr>
          </a:p>
        </p:txBody>
      </p:sp>
      <p:sp>
        <p:nvSpPr>
          <p:cNvPr id="11266" name="Espaço Reservado para Conteúd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 anchorCtr="0"/>
          <a:p>
            <a:pPr defTabSz="914400">
              <a:buSzTx/>
              <a:buFont typeface="Arial" panose="020B0604020202020204" pitchFamily="34" charset="0"/>
              <a:buNone/>
            </a:pP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Gerando Falc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õ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es" representa a cren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ç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a de que dentro de cada pessoa da periferia existe um grande potencial</a:t>
            </a:r>
            <a:r>
              <a:rPr lang="pt-BR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, 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como um falc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ã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o pronto para voar alto. O trabalho da ONG </a:t>
            </a:r>
            <a:r>
              <a:rPr lang="en-US" altLang="en-US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é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 dar as condi</a:t>
            </a:r>
            <a:r>
              <a:rPr lang="en-US" altLang="zh-CN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çõ</a:t>
            </a:r>
            <a:r>
              <a:rPr lang="en-US" altLang="pt-BR" kern="1200">
                <a:solidFill>
                  <a:srgbClr val="404040"/>
                </a:solidFill>
                <a:latin typeface="Calibri Light" panose="020F0302020204030204" pitchFamily="34" charset="0"/>
                <a:ea typeface="+mn-ea"/>
                <a:cs typeface="+mn-cs"/>
              </a:rPr>
              <a:t>es para que esse potencial seja desenvolvido.</a:t>
            </a:r>
            <a:endParaRPr lang="en-US" altLang="pt-BR" kern="1200">
              <a:solidFill>
                <a:srgbClr val="404040"/>
              </a:solidFill>
              <a:latin typeface="Calibri Light" panose="020F03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2406</Words>
  <Application>WPS Presentation</Application>
  <PresentationFormat>宽屏</PresentationFormat>
  <Paragraphs>62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黑体</vt:lpstr>
      <vt:lpstr>Calibri Light</vt:lpstr>
      <vt:lpstr>Microsoft YaHei</vt:lpstr>
      <vt:lpstr>Arial Unicode MS</vt:lpstr>
      <vt:lpstr>Office Theme</vt:lpstr>
      <vt:lpstr>Sistema Web - ONG GERANDO FALCÕES</vt:lpstr>
      <vt:lpstr>DESCRIÇÃO</vt:lpstr>
      <vt:lpstr>SOBRE A ONG</vt:lpstr>
      <vt:lpstr>MISSÃO</vt:lpstr>
      <vt:lpstr>VISÃO</vt:lpstr>
      <vt:lpstr>PRINCIPAIS ÁREAS DE ATUAÇÃO</vt:lpstr>
      <vt:lpstr>IMPACTO E RESULTADOS</vt:lpstr>
      <vt:lpstr>SIGNIFICADO DO NOME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6</cp:revision>
  <dcterms:created xsi:type="dcterms:W3CDTF">2025-07-23T00:59:00Z</dcterms:created>
  <dcterms:modified xsi:type="dcterms:W3CDTF">2026-05-26T19:09:48Z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1046-12.2.0.23196</vt:lpwstr>
  </property>
  <property fmtid="{D5CDD505-2E9C-101B-9397-08002B2CF9AE}" pid="3" name="ICV">
    <vt:lpwstr>6A11501C3852482BB4AEF2FA9C575F45_13</vt:lpwstr>
  </property>
</Properties>
</file>